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1ec42ce7b4bf7" /><Relationship Type="http://schemas.openxmlformats.org/officeDocument/2006/relationships/extended-properties" Target="/docProps/app.xml" Id="Ra8badd74a56743dc" /><Relationship Type="http://schemas.openxmlformats.org/officeDocument/2006/relationships/officeDocument" Target="/ppt/presentation.xml" Id="R1caa939d311d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f4a0e80d9448f"/>
  </p:sldMasterIdLst>
  <p:notesMasterIdLst>
    <p:notesMasterId xmlns:r="http://schemas.openxmlformats.org/officeDocument/2006/relationships" r:id="Rb8c840f2d302414b"/>
  </p:notesMasterIdLst>
  <p:sldIdLst>
    <p:sldId xmlns:r="http://schemas.openxmlformats.org/officeDocument/2006/relationships" id="256" r:id="R07931f4be94f47e3"/>
  </p:sldIdLst>
  <p:sldSz cx="17145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b8502d3024e17" /><Relationship Type="http://schemas.openxmlformats.org/officeDocument/2006/relationships/slideMaster" Target="/ppt/slideMasters/slideMaster1.xml" Id="Rf84f4a0e80d9448f" /><Relationship Type="http://schemas.openxmlformats.org/officeDocument/2006/relationships/notesMaster" Target="/ppt/notesMasters/notesMaster1.xml" Id="Rb8c840f2d302414b" /><Relationship Type="http://schemas.openxmlformats.org/officeDocument/2006/relationships/presProps" Target="/ppt/presProps.xml" Id="Re3bc3e17873c4585" /><Relationship Type="http://schemas.openxmlformats.org/officeDocument/2006/relationships/tableStyles" Target="/ppt/tableStyles.xml" Id="R5abd3337e0d440f4" /><Relationship Type="http://schemas.openxmlformats.org/officeDocument/2006/relationships/slide" Target="/ppt/slides/slide1.xml" Id="R07931f4be94f47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be5bfe8f544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b07ac9b5c4124" /><Relationship Type="http://schemas.openxmlformats.org/officeDocument/2006/relationships/notesMaster" Target="/ppt/notesMasters/notesMaster1.xml" Id="R994f176cfe15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Dataset-rich framework figure. The data thumbnails correspond to the schematic source-record views GSE120575, GSE91061, and GSE78220. They do not communicate a biological or clinical result. Every native text element is set to 8 pt or larger.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85e043857d4d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61907c01ac406d" /><Relationship Type="http://schemas.openxmlformats.org/officeDocument/2006/relationships/slideLayout" Target="/ppt/slideLayouts/slideLayout1.xml" Id="R498984e1bf2f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8984e1bf2f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66105b3354be7" /><Relationship Type="http://schemas.openxmlformats.org/officeDocument/2006/relationships/image" Target="/ppt/media/image.png" Id="Rdaa7d63b15114a73" /><Relationship Type="http://schemas.openxmlformats.org/officeDocument/2006/relationships/image" Target="/ppt/media/image2.png" Id="Rcd60e42a15a946b4" /><Relationship Type="http://schemas.openxmlformats.org/officeDocument/2006/relationships/image" Target="/ppt/media/image3.png" Id="R8e231eea49784e68" /><Relationship Type="http://schemas.openxmlformats.org/officeDocument/2006/relationships/notesSlide" Target="/ppt/notesSlides/notesSlide1.xml" Id="R7be9d8627f1c4a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itle">
            <a:extLst xmlns:a="http://schemas.openxmlformats.org/drawingml/2006/main">
              <a:ext uri="{FF2B5EF4-FFF2-40B4-BE49-F238E27FC236}">
                <a16:creationId xmlns:a16="http://schemas.microsoft.com/office/drawing/2014/main" id="{9C1877E6-FD12-4F4A-84C9-5435E302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628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TRACER evidence-graph workflow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7A266E-539B-457C-9345-E4BE86B0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628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Registered source records define the evidence. The LLM drafts a candidate; deterministic checks decide research-priority eligibility.</a:t>
            </a:r>
          </a:p>
        </p:txBody>
      </p:sp>
      <p:sp>
        <p:nvSpPr>
          <p:cNvPr id="3" name="panel-0">
            <a:extLst xmlns:a="http://schemas.openxmlformats.org/drawingml/2006/main">
              <a:ext uri="{FF2B5EF4-FFF2-40B4-BE49-F238E27FC236}">
                <a16:creationId xmlns:a16="http://schemas.microsoft.com/office/drawing/2014/main" id="{3CE420B5-C211-4820-8C1B-B7FBEC7E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4000500" cy="73342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4" name="panel-1">
            <a:extLst xmlns:a="http://schemas.openxmlformats.org/drawingml/2006/main">
              <a:ext uri="{FF2B5EF4-FFF2-40B4-BE49-F238E27FC236}">
                <a16:creationId xmlns:a16="http://schemas.microsoft.com/office/drawing/2014/main" id="{293A570E-4123-4D05-8902-F78E1797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143250" cy="7334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5" name="panel-2">
            <a:extLst xmlns:a="http://schemas.openxmlformats.org/drawingml/2006/main">
              <a:ext uri="{FF2B5EF4-FFF2-40B4-BE49-F238E27FC236}">
                <a16:creationId xmlns:a16="http://schemas.microsoft.com/office/drawing/2014/main" id="{FB793765-BD3C-47EF-84A2-B1B145FD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4286250" cy="7334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6" name="panel-3">
            <a:extLst xmlns:a="http://schemas.openxmlformats.org/drawingml/2006/main">
              <a:ext uri="{FF2B5EF4-FFF2-40B4-BE49-F238E27FC236}">
                <a16:creationId xmlns:a16="http://schemas.microsoft.com/office/drawing/2014/main" id="{7506D898-5D62-41E0-BCA3-51D513E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381125"/>
            <a:ext cx="4572000" cy="7334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7FAFE"/>
          </a:solidFill>
          <a:ln xmlns:a="http://schemas.openxmlformats.org/drawingml/2006/main" w="11430">
            <a:solidFill>
              <a:srgbClr val="295DA9"/>
            </a:solidFill>
            <a:prstDash val="solid"/>
          </a:ln>
        </p:spPr>
      </p:sp>
      <p:sp>
        <p:nvSpPr>
          <p:cNvPr id="7" name="one">
            <a:extLst xmlns:a="http://schemas.openxmlformats.org/drawingml/2006/main">
              <a:ext uri="{FF2B5EF4-FFF2-40B4-BE49-F238E27FC236}">
                <a16:creationId xmlns:a16="http://schemas.microsoft.com/office/drawing/2014/main" id="{0B6DE11D-A5DE-40D2-9319-B957AEC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8" name="one-t">
            <a:extLst xmlns:a="http://schemas.openxmlformats.org/drawingml/2006/main">
              <a:ext uri="{FF2B5EF4-FFF2-40B4-BE49-F238E27FC236}">
                <a16:creationId xmlns:a16="http://schemas.microsoft.com/office/drawing/2014/main" id="{E335C91F-FCBB-4FB0-884F-46A35AD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one-title">
            <a:extLst xmlns:a="http://schemas.openxmlformats.org/drawingml/2006/main">
              <a:ext uri="{FF2B5EF4-FFF2-40B4-BE49-F238E27FC236}">
                <a16:creationId xmlns:a16="http://schemas.microsoft.com/office/drawing/2014/main" id="{A8A6BF18-7BAB-441F-B55C-2DDE9FD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71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Registry evidence</a:t>
            </a:r>
          </a:p>
        </p:txBody>
      </p:sp>
      <p:sp>
        <p:nvSpPr>
          <p:cNvPr id="10" name="one-kicker">
            <a:extLst xmlns:a="http://schemas.openxmlformats.org/drawingml/2006/main">
              <a:ext uri="{FF2B5EF4-FFF2-40B4-BE49-F238E27FC236}">
                <a16:creationId xmlns:a16="http://schemas.microsoft.com/office/drawing/2014/main" id="{A5D71986-5697-49D4-A053-965B4D65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Frozen dataset views</a:t>
            </a:r>
          </a:p>
        </p:txBody>
      </p:sp>
      <p:sp>
        <p:nvSpPr>
          <p:cNvPr id="11" name="one-ids">
            <a:extLst xmlns:a="http://schemas.openxmlformats.org/drawingml/2006/main">
              <a:ext uri="{FF2B5EF4-FFF2-40B4-BE49-F238E27FC236}">
                <a16:creationId xmlns:a16="http://schemas.microsoft.com/office/drawing/2014/main" id="{337DA8ED-B0A3-451A-9B5A-43373AB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GSE120575  /  GSE91061  /  GSE78220</a:t>
            </a:r>
          </a:p>
        </p:txBody>
      </p:sp>
      <p:sp>
        <p:nvSpPr>
          <p:cNvPr id="12" name="data-sc">
            <a:extLst xmlns:a="http://schemas.openxmlformats.org/drawingml/2006/main">
              <a:ext uri="{FF2B5EF4-FFF2-40B4-BE49-F238E27FC236}">
                <a16:creationId xmlns:a16="http://schemas.microsoft.com/office/drawing/2014/main" id="{68E72214-F175-426C-9A41-F45AD9B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43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3" name="data-label-sc">
            <a:extLst xmlns:a="http://schemas.openxmlformats.org/drawingml/2006/main">
              <a:ext uri="{FF2B5EF4-FFF2-40B4-BE49-F238E27FC236}">
                <a16:creationId xmlns:a16="http://schemas.microsoft.com/office/drawing/2014/main" id="{4675641E-6464-4110-9575-2B533C3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623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scRNA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7d63b15114a73"/>
          <a:stretch xmlns:a="http://schemas.openxmlformats.org/drawingml/2006/main"/>
        </p:blipFill>
        <p:spPr>
          <a:xfrm xmlns:a="http://schemas.openxmlformats.org/drawingml/2006/main">
            <a:off x="533400" y="3857422"/>
            <a:ext cx="990600" cy="905282"/>
          </a:xfrm>
          <a:prstGeom xmlns:a="http://schemas.openxmlformats.org/drawingml/2006/main" prst="rect">
            <a:avLst/>
          </a:prstGeom>
        </p:spPr>
      </p:pic>
      <p:sp>
        <p:nvSpPr>
          <p:cNvPr id="15" name="data-b1">
            <a:extLst xmlns:a="http://schemas.openxmlformats.org/drawingml/2006/main">
              <a:ext uri="{FF2B5EF4-FFF2-40B4-BE49-F238E27FC236}">
                <a16:creationId xmlns:a16="http://schemas.microsoft.com/office/drawing/2014/main" id="{72AC7B9B-06B0-4567-919A-353400B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1143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6" name="data-label-b1">
            <a:extLst xmlns:a="http://schemas.openxmlformats.org/drawingml/2006/main">
              <a:ext uri="{FF2B5EF4-FFF2-40B4-BE49-F238E27FC236}">
                <a16:creationId xmlns:a16="http://schemas.microsoft.com/office/drawing/2014/main" id="{C1E3FCD6-B925-4275-8DD9-D495F3C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623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bulk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0e42a15a946b4"/>
          <a:stretch xmlns:a="http://schemas.openxmlformats.org/drawingml/2006/main"/>
        </p:blipFill>
        <p:spPr>
          <a:xfrm xmlns:a="http://schemas.openxmlformats.org/drawingml/2006/main">
            <a:off x="1790700" y="3857422"/>
            <a:ext cx="990600" cy="905282"/>
          </a:xfrm>
          <a:prstGeom xmlns:a="http://schemas.openxmlformats.org/drawingml/2006/main" prst="rect">
            <a:avLst/>
          </a:prstGeom>
        </p:spPr>
      </p:pic>
      <p:sp>
        <p:nvSpPr>
          <p:cNvPr id="18" name="data-b2">
            <a:extLst xmlns:a="http://schemas.openxmlformats.org/drawingml/2006/main">
              <a:ext uri="{FF2B5EF4-FFF2-40B4-BE49-F238E27FC236}">
                <a16:creationId xmlns:a16="http://schemas.microsoft.com/office/drawing/2014/main" id="{04C762DF-33A6-4763-A211-9A6AE209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48000"/>
            <a:ext cx="1143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19" name="data-label-b2">
            <a:extLst xmlns:a="http://schemas.openxmlformats.org/drawingml/2006/main">
              <a:ext uri="{FF2B5EF4-FFF2-40B4-BE49-F238E27FC236}">
                <a16:creationId xmlns:a16="http://schemas.microsoft.com/office/drawing/2014/main" id="{1E15EE2F-DBE6-47EB-93B0-9C3AD16B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623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bulk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31eea49784e68"/>
          <a:stretch xmlns:a="http://schemas.openxmlformats.org/drawingml/2006/main"/>
        </p:blipFill>
        <p:spPr>
          <a:xfrm xmlns:a="http://schemas.openxmlformats.org/drawingml/2006/main">
            <a:off x="3048000" y="3857422"/>
            <a:ext cx="990600" cy="905282"/>
          </a:xfrm>
          <a:prstGeom xmlns:a="http://schemas.openxmlformats.org/drawingml/2006/main" prst="rect">
            <a:avLst/>
          </a:prstGeom>
        </p:spPr>
      </p:pic>
      <p:sp>
        <p:nvSpPr>
          <p:cNvPr id="21" name="warning">
            <a:extLst xmlns:a="http://schemas.openxmlformats.org/drawingml/2006/main">
              <a:ext uri="{FF2B5EF4-FFF2-40B4-BE49-F238E27FC236}">
                <a16:creationId xmlns:a16="http://schemas.microsoft.com/office/drawing/2014/main" id="{AC6B4C7E-8895-494F-AFCE-0426DBF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36576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EF"/>
          </a:solidFill>
          <a:ln xmlns:a="http://schemas.openxmlformats.org/drawingml/2006/main" w="7620">
            <a:solidFill>
              <a:srgbClr val="D75A45"/>
            </a:solidFill>
            <a:prstDash val="solid"/>
          </a:ln>
        </p:spPr>
      </p:sp>
      <p:sp>
        <p:nvSpPr>
          <p:cNvPr id="22" name="warning-text">
            <a:extLst xmlns:a="http://schemas.openxmlformats.org/drawingml/2006/main">
              <a:ext uri="{FF2B5EF4-FFF2-40B4-BE49-F238E27FC236}">
                <a16:creationId xmlns:a16="http://schemas.microsoft.com/office/drawing/2014/main" id="{77760652-07BB-4004-B366-02DBE740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007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scRNA-seq and bulk RNA</a:t>
            </a:r>
          </a:p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are different measurement levels.</a:t>
            </a:r>
          </a:p>
        </p:txBody>
      </p:sp>
      <p:sp>
        <p:nvSpPr>
          <p:cNvPr id="23" name="one-foot">
            <a:extLst xmlns:a="http://schemas.openxmlformats.org/drawingml/2006/main">
              <a:ext uri="{FF2B5EF4-FFF2-40B4-BE49-F238E27FC236}">
                <a16:creationId xmlns:a16="http://schemas.microsoft.com/office/drawing/2014/main" id="{D08EF13D-F322-4ED0-BB30-30135EC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Typed source fields remain frozen.</a:t>
            </a:r>
          </a:p>
        </p:txBody>
      </p:sp>
      <p:sp>
        <p:nvSpPr>
          <p:cNvPr id="24" name="two">
            <a:extLst xmlns:a="http://schemas.openxmlformats.org/drawingml/2006/main">
              <a:ext uri="{FF2B5EF4-FFF2-40B4-BE49-F238E27FC236}">
                <a16:creationId xmlns:a16="http://schemas.microsoft.com/office/drawing/2014/main" id="{AD66E1C9-0959-47DC-BF36-B9F666CF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25" name="two-t">
            <a:extLst xmlns:a="http://schemas.openxmlformats.org/drawingml/2006/main">
              <a:ext uri="{FF2B5EF4-FFF2-40B4-BE49-F238E27FC236}">
                <a16:creationId xmlns:a16="http://schemas.microsoft.com/office/drawing/2014/main" id="{DA442520-C79C-44CE-8ADF-B7C84A63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6" name="two-title">
            <a:extLst xmlns:a="http://schemas.openxmlformats.org/drawingml/2006/main">
              <a:ext uri="{FF2B5EF4-FFF2-40B4-BE49-F238E27FC236}">
                <a16:creationId xmlns:a16="http://schemas.microsoft.com/office/drawing/2014/main" id="{F987A5B0-261F-462F-990A-94EF80FE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716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LLM candidate</a:t>
            </a:r>
          </a:p>
        </p:txBody>
      </p:sp>
      <p:sp>
        <p:nvSpPr>
          <p:cNvPr id="27" name="two-kicker">
            <a:extLst xmlns:a="http://schemas.openxmlformats.org/drawingml/2006/main">
              <a:ext uri="{FF2B5EF4-FFF2-40B4-BE49-F238E27FC236}">
                <a16:creationId xmlns:a16="http://schemas.microsoft.com/office/drawing/2014/main" id="{882663A2-9546-46E7-8783-492E23B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Untrusted draft</a:t>
            </a:r>
          </a:p>
        </p:txBody>
      </p:sp>
      <p:sp>
        <p:nvSpPr>
          <p:cNvPr id="28" name="llm">
            <a:extLst xmlns:a="http://schemas.openxmlformats.org/drawingml/2006/main">
              <a:ext uri="{FF2B5EF4-FFF2-40B4-BE49-F238E27FC236}">
                <a16:creationId xmlns:a16="http://schemas.microsoft.com/office/drawing/2014/main" id="{21934F76-A862-496A-959F-33253AD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571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9525">
            <a:solidFill>
              <a:srgbClr val="295DA9"/>
            </a:solidFill>
            <a:prstDash val="solid"/>
          </a:ln>
        </p:spPr>
      </p:sp>
      <p:sp>
        <p:nvSpPr>
          <p:cNvPr id="29" name="llm-title">
            <a:extLst xmlns:a="http://schemas.openxmlformats.org/drawingml/2006/main">
              <a:ext uri="{FF2B5EF4-FFF2-40B4-BE49-F238E27FC236}">
                <a16:creationId xmlns:a16="http://schemas.microsoft.com/office/drawing/2014/main" id="{0CA9FF2A-BF0E-4AB4-BB56-F71B850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Small LLM</a:t>
            </a:r>
          </a:p>
        </p:txBody>
      </p:sp>
      <p:sp>
        <p:nvSpPr>
          <p:cNvPr id="30" name="llm-copy">
            <a:extLst xmlns:a="http://schemas.openxmlformats.org/drawingml/2006/main">
              <a:ext uri="{FF2B5EF4-FFF2-40B4-BE49-F238E27FC236}">
                <a16:creationId xmlns:a16="http://schemas.microsoft.com/office/drawing/2014/main" id="{5F85C390-4384-4724-9F83-A317A99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drafts a research candidate</a:t>
            </a:r>
          </a:p>
        </p:txBody>
      </p:sp>
      <p:sp>
        <p:nvSpPr>
          <p:cNvPr id="31" name="down">
            <a:extLst xmlns:a="http://schemas.openxmlformats.org/drawingml/2006/main">
              <a:ext uri="{FF2B5EF4-FFF2-40B4-BE49-F238E27FC236}">
                <a16:creationId xmlns:a16="http://schemas.microsoft.com/office/drawing/2014/main" id="{15648307-2566-4EAC-9C0B-CF07005D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338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32" name="candidate">
            <a:extLst xmlns:a="http://schemas.openxmlformats.org/drawingml/2006/main">
              <a:ext uri="{FF2B5EF4-FFF2-40B4-BE49-F238E27FC236}">
                <a16:creationId xmlns:a16="http://schemas.microsoft.com/office/drawing/2014/main" id="{19909452-85CC-4F63-9AE3-8BAEA26E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EF"/>
          </a:solidFill>
          <a:ln xmlns:a="http://schemas.openxmlformats.org/drawingml/2006/main" w="9525">
            <a:solidFill>
              <a:srgbClr val="D75A45"/>
            </a:solidFill>
            <a:prstDash val="solid"/>
          </a:ln>
        </p:spPr>
      </p:sp>
      <p:sp>
        <p:nvSpPr>
          <p:cNvPr id="33" name="candidate-title">
            <a:extLst xmlns:a="http://schemas.openxmlformats.org/drawingml/2006/main">
              <a:ext uri="{FF2B5EF4-FFF2-40B4-BE49-F238E27FC236}">
                <a16:creationId xmlns:a16="http://schemas.microsoft.com/office/drawing/2014/main" id="{BACA3C67-ECCA-47F5-A155-5EF5B0C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95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D75A45"/>
                </a:solidFill>
                <a:latin typeface="Helvetica Neue"/>
                <a:ea typeface="Helvetica Neue"/>
                <a:cs typeface="Helvetica Neue"/>
              </a:rPr>
              <a:t>CANDIDATE CARD</a:t>
            </a:r>
          </a:p>
        </p:txBody>
      </p:sp>
      <p:sp>
        <p:nvSpPr>
          <p:cNvPr id="34" name="candidate-copy">
            <a:extLst xmlns:a="http://schemas.openxmlformats.org/drawingml/2006/main">
              <a:ext uri="{FF2B5EF4-FFF2-40B4-BE49-F238E27FC236}">
                <a16:creationId xmlns:a16="http://schemas.microsoft.com/office/drawing/2014/main" id="{194A3B43-E3C0-43F5-A65A-CC92C5EE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6959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hypothesis + replication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requested next test</a:t>
            </a:r>
          </a:p>
        </p:txBody>
      </p:sp>
      <p:sp>
        <p:nvSpPr>
          <p:cNvPr id="35" name="two-foot">
            <a:extLst xmlns:a="http://schemas.openxmlformats.org/drawingml/2006/main">
              <a:ext uri="{FF2B5EF4-FFF2-40B4-BE49-F238E27FC236}">
                <a16:creationId xmlns:a16="http://schemas.microsoft.com/office/drawing/2014/main" id="{A03D6E12-7FD4-45EA-BBAC-E820023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143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Model text cannot create evidence.</a:t>
            </a:r>
          </a:p>
        </p:txBody>
      </p:sp>
      <p:sp>
        <p:nvSpPr>
          <p:cNvPr id="36" name="three">
            <a:extLst xmlns:a="http://schemas.openxmlformats.org/drawingml/2006/main">
              <a:ext uri="{FF2B5EF4-FFF2-40B4-BE49-F238E27FC236}">
                <a16:creationId xmlns:a16="http://schemas.microsoft.com/office/drawing/2014/main" id="{B290CA09-3372-46B9-AC45-984BEF6F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37" name="three-t">
            <a:extLst xmlns:a="http://schemas.openxmlformats.org/drawingml/2006/main">
              <a:ext uri="{FF2B5EF4-FFF2-40B4-BE49-F238E27FC236}">
                <a16:creationId xmlns:a16="http://schemas.microsoft.com/office/drawing/2014/main" id="{3C357416-0D35-4B93-87E7-73B7F71B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8" name="three-title">
            <a:extLst xmlns:a="http://schemas.openxmlformats.org/drawingml/2006/main">
              <a:ext uri="{FF2B5EF4-FFF2-40B4-BE49-F238E27FC236}">
                <a16:creationId xmlns:a16="http://schemas.microsoft.com/office/drawing/2014/main" id="{3534AFCB-7065-4637-8624-C6D5774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Deterministic checks</a:t>
            </a:r>
          </a:p>
        </p:txBody>
      </p:sp>
      <p:sp>
        <p:nvSpPr>
          <p:cNvPr id="39" name="three-kicker">
            <a:extLst xmlns:a="http://schemas.openxmlformats.org/drawingml/2006/main">
              <a:ext uri="{FF2B5EF4-FFF2-40B4-BE49-F238E27FC236}">
                <a16:creationId xmlns:a16="http://schemas.microsoft.com/office/drawing/2014/main" id="{40FCDAEE-A1C9-4EB5-9704-24957585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Registry-derived</a:t>
            </a:r>
          </a:p>
        </p:txBody>
      </p:sp>
      <p:sp>
        <p:nvSpPr>
          <p:cNvPr id="40" name="gate-0">
            <a:extLst xmlns:a="http://schemas.openxmlformats.org/drawingml/2006/main">
              <a:ext uri="{FF2B5EF4-FFF2-40B4-BE49-F238E27FC236}">
                <a16:creationId xmlns:a16="http://schemas.microsoft.com/office/drawing/2014/main" id="{FE86FE5B-3D41-4D81-931F-2B226C2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943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41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B6474AFC-9934-4164-8692-C52F7EBE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03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42" name="gate-state-0">
            <a:extLst xmlns:a="http://schemas.openxmlformats.org/drawingml/2006/main">
              <a:ext uri="{FF2B5EF4-FFF2-40B4-BE49-F238E27FC236}">
                <a16:creationId xmlns:a16="http://schemas.microsoft.com/office/drawing/2014/main" id="{B375648A-EBFA-4B3D-A937-541EF2A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00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3" name="gate-1">
            <a:extLst xmlns:a="http://schemas.openxmlformats.org/drawingml/2006/main">
              <a:ext uri="{FF2B5EF4-FFF2-40B4-BE49-F238E27FC236}">
                <a16:creationId xmlns:a16="http://schemas.microsoft.com/office/drawing/2014/main" id="{6C3AFF71-BCDF-41CC-89FE-69D942C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71875"/>
            <a:ext cx="3943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44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222BB31F-D9B9-4E81-B3AA-5B02FEC0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Transport</a:t>
            </a:r>
          </a:p>
        </p:txBody>
      </p:sp>
      <p:sp>
        <p:nvSpPr>
          <p:cNvPr id="45" name="gate-state-1">
            <a:extLst xmlns:a="http://schemas.openxmlformats.org/drawingml/2006/main">
              <a:ext uri="{FF2B5EF4-FFF2-40B4-BE49-F238E27FC236}">
                <a16:creationId xmlns:a16="http://schemas.microsoft.com/office/drawing/2014/main" id="{8B56514B-4225-4076-B094-C70577E0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6" name="gate-2">
            <a:extLst xmlns:a="http://schemas.openxmlformats.org/drawingml/2006/main">
              <a:ext uri="{FF2B5EF4-FFF2-40B4-BE49-F238E27FC236}">
                <a16:creationId xmlns:a16="http://schemas.microsoft.com/office/drawing/2014/main" id="{F9B0B84D-5C2C-4AFE-8AE2-BFA07B35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943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47" name="gate-label-2">
            <a:extLst xmlns:a="http://schemas.openxmlformats.org/drawingml/2006/main">
              <a:ext uri="{FF2B5EF4-FFF2-40B4-BE49-F238E27FC236}">
                <a16:creationId xmlns:a16="http://schemas.microsoft.com/office/drawing/2014/main" id="{335501E7-6FC7-40F8-BB5E-D2641006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Source links</a:t>
            </a:r>
          </a:p>
        </p:txBody>
      </p:sp>
      <p:sp>
        <p:nvSpPr>
          <p:cNvPr id="48" name="gate-state-2">
            <a:extLst xmlns:a="http://schemas.openxmlformats.org/drawingml/2006/main">
              <a:ext uri="{FF2B5EF4-FFF2-40B4-BE49-F238E27FC236}">
                <a16:creationId xmlns:a16="http://schemas.microsoft.com/office/drawing/2014/main" id="{3933BD31-60ED-47DC-802F-4FB2EB2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2912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9" name="gate-3">
            <a:extLst xmlns:a="http://schemas.openxmlformats.org/drawingml/2006/main">
              <a:ext uri="{FF2B5EF4-FFF2-40B4-BE49-F238E27FC236}">
                <a16:creationId xmlns:a16="http://schemas.microsoft.com/office/drawing/2014/main" id="{8B03D049-FB05-4DFC-891F-0C207841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00625"/>
            <a:ext cx="3943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50" name="gate-label-3">
            <a:extLst xmlns:a="http://schemas.openxmlformats.org/drawingml/2006/main">
              <a:ext uri="{FF2B5EF4-FFF2-40B4-BE49-F238E27FC236}">
                <a16:creationId xmlns:a16="http://schemas.microsoft.com/office/drawing/2014/main" id="{BC3D0B83-0BBC-41F4-AC1C-75AD174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435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All-cohort FDR</a:t>
            </a:r>
          </a:p>
        </p:txBody>
      </p:sp>
      <p:sp>
        <p:nvSpPr>
          <p:cNvPr id="51" name="gate-state-3">
            <a:extLst xmlns:a="http://schemas.openxmlformats.org/drawingml/2006/main">
              <a:ext uri="{FF2B5EF4-FFF2-40B4-BE49-F238E27FC236}">
                <a16:creationId xmlns:a16="http://schemas.microsoft.com/office/drawing/2014/main" id="{D4AB9568-4085-46C6-B045-3F4F9363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52" name="gate-4">
            <a:extLst xmlns:a="http://schemas.openxmlformats.org/drawingml/2006/main">
              <a:ext uri="{FF2B5EF4-FFF2-40B4-BE49-F238E27FC236}">
                <a16:creationId xmlns:a16="http://schemas.microsoft.com/office/drawing/2014/main" id="{4DAB8885-710D-4919-971D-AB5CC84B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15000"/>
            <a:ext cx="3943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8E5"/>
            </a:solidFill>
            <a:prstDash val="solid"/>
          </a:ln>
        </p:spPr>
      </p:sp>
      <p:sp>
        <p:nvSpPr>
          <p:cNvPr id="53" name="gate-label-4">
            <a:extLst xmlns:a="http://schemas.openxmlformats.org/drawingml/2006/main">
              <a:ext uri="{FF2B5EF4-FFF2-40B4-BE49-F238E27FC236}">
                <a16:creationId xmlns:a16="http://schemas.microsoft.com/office/drawing/2014/main" id="{DF6BDFE5-9C93-4001-AA2E-45025279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578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Perturbation</a:t>
            </a:r>
          </a:p>
        </p:txBody>
      </p:sp>
      <p:sp>
        <p:nvSpPr>
          <p:cNvPr id="54" name="gate-state-4">
            <a:extLst xmlns:a="http://schemas.openxmlformats.org/drawingml/2006/main">
              <a:ext uri="{FF2B5EF4-FFF2-40B4-BE49-F238E27FC236}">
                <a16:creationId xmlns:a16="http://schemas.microsoft.com/office/drawing/2014/main" id="{CCB61BC4-1475-4B7A-9B9C-0E4D43E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578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55" name="three-foot">
            <a:extLst xmlns:a="http://schemas.openxmlformats.org/drawingml/2006/main">
              <a:ext uri="{FF2B5EF4-FFF2-40B4-BE49-F238E27FC236}">
                <a16:creationId xmlns:a16="http://schemas.microsoft.com/office/drawing/2014/main" id="{204810CB-32EE-48E4-9EA4-8A89BC49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0485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All required checks must pass for HIGH.</a:t>
            </a:r>
          </a:p>
        </p:txBody>
      </p:sp>
      <p:sp>
        <p:nvSpPr>
          <p:cNvPr id="56" name="four">
            <a:extLst xmlns:a="http://schemas.openxmlformats.org/drawingml/2006/main">
              <a:ext uri="{FF2B5EF4-FFF2-40B4-BE49-F238E27FC236}">
                <a16:creationId xmlns:a16="http://schemas.microsoft.com/office/drawing/2014/main" id="{E0C05F18-6593-45EE-8C8A-A231B4F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619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57" name="four-t">
            <a:extLst xmlns:a="http://schemas.openxmlformats.org/drawingml/2006/main">
              <a:ext uri="{FF2B5EF4-FFF2-40B4-BE49-F238E27FC236}">
                <a16:creationId xmlns:a16="http://schemas.microsoft.com/office/drawing/2014/main" id="{5E281079-FC56-4C6A-94E2-C7F18668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70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8" name="four-title">
            <a:extLst xmlns:a="http://schemas.openxmlformats.org/drawingml/2006/main">
              <a:ext uri="{FF2B5EF4-FFF2-40B4-BE49-F238E27FC236}">
                <a16:creationId xmlns:a16="http://schemas.microsoft.com/office/drawing/2014/main" id="{BBBAC78D-78C6-43AA-98D2-774CDFE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571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Priority decision</a:t>
            </a:r>
          </a:p>
        </p:txBody>
      </p:sp>
      <p:sp>
        <p:nvSpPr>
          <p:cNvPr id="59" name="four-kicker">
            <a:extLst xmlns:a="http://schemas.openxmlformats.org/drawingml/2006/main">
              <a:ext uri="{FF2B5EF4-FFF2-40B4-BE49-F238E27FC236}">
                <a16:creationId xmlns:a16="http://schemas.microsoft.com/office/drawing/2014/main" id="{2D8C3548-B939-497D-8696-7B94D1E4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114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295DA9"/>
                </a:solidFill>
                <a:latin typeface="Helvetica Neue"/>
                <a:ea typeface="Helvetica Neue"/>
                <a:cs typeface="Helvetica Neue"/>
              </a:rPr>
              <a:t>Auditable output</a:t>
            </a:r>
          </a:p>
        </p:txBody>
      </p:sp>
      <p:sp>
        <p:nvSpPr>
          <p:cNvPr id="60" name="low">
            <a:extLst xmlns:a="http://schemas.openxmlformats.org/drawingml/2006/main">
              <a:ext uri="{FF2B5EF4-FFF2-40B4-BE49-F238E27FC236}">
                <a16:creationId xmlns:a16="http://schemas.microsoft.com/office/drawing/2014/main" id="{45FB8A14-EC9E-406F-85B3-ED7FC04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952750"/>
            <a:ext cx="4191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E5"/>
            </a:solidFill>
            <a:prstDash val="solid"/>
          </a:ln>
        </p:spPr>
      </p:sp>
      <p:sp>
        <p:nvSpPr>
          <p:cNvPr id="61" name="low-title">
            <a:extLst xmlns:a="http://schemas.openxmlformats.org/drawingml/2006/main">
              <a:ext uri="{FF2B5EF4-FFF2-40B4-BE49-F238E27FC236}">
                <a16:creationId xmlns:a16="http://schemas.microsoft.com/office/drawing/2014/main" id="{89E921A2-644C-46C9-A778-3BACAC9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162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LOW / ABSTAIN</a:t>
            </a:r>
          </a:p>
        </p:txBody>
      </p:sp>
      <p:sp>
        <p:nvSpPr>
          <p:cNvPr id="62" name="low-copy">
            <a:extLst xmlns:a="http://schemas.openxmlformats.org/drawingml/2006/main">
              <a:ext uri="{FF2B5EF4-FFF2-40B4-BE49-F238E27FC236}">
                <a16:creationId xmlns:a16="http://schemas.microsoft.com/office/drawing/2014/main" id="{967D0697-9076-4210-ACD1-6213CBC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6861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Keep the trace.</a:t>
            </a:r>
          </a:p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Specify a compatible next test.</a:t>
            </a:r>
          </a:p>
        </p:txBody>
      </p:sp>
      <p:sp>
        <p:nvSpPr>
          <p:cNvPr id="63" name="high">
            <a:extLst xmlns:a="http://schemas.openxmlformats.org/drawingml/2006/main">
              <a:ext uri="{FF2B5EF4-FFF2-40B4-BE49-F238E27FC236}">
                <a16:creationId xmlns:a16="http://schemas.microsoft.com/office/drawing/2014/main" id="{B5609861-E92C-4FA0-B4A5-F37289E1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810125"/>
            <a:ext cx="4191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7F3"/>
          </a:solidFill>
          <a:ln xmlns:a="http://schemas.openxmlformats.org/drawingml/2006/main" w="9525">
            <a:solidFill>
              <a:srgbClr val="007D79"/>
            </a:solidFill>
            <a:prstDash val="solid"/>
          </a:ln>
        </p:spPr>
      </p:sp>
      <p:sp>
        <p:nvSpPr>
          <p:cNvPr id="64" name="high-title">
            <a:extLst xmlns:a="http://schemas.openxmlformats.org/drawingml/2006/main">
              <a:ext uri="{FF2B5EF4-FFF2-40B4-BE49-F238E27FC236}">
                <a16:creationId xmlns:a16="http://schemas.microsoft.com/office/drawing/2014/main" id="{14306BCB-6932-44F8-858C-DAEFB111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196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007D79"/>
                </a:solidFill>
                <a:latin typeface="Helvetica Neue"/>
                <a:ea typeface="Helvetica Neue"/>
                <a:cs typeface="Helvetica Neue"/>
              </a:rPr>
              <a:t>HIGH / priority eligible</a:t>
            </a:r>
          </a:p>
        </p:txBody>
      </p:sp>
      <p:sp>
        <p:nvSpPr>
          <p:cNvPr id="65" name="high-copy">
            <a:extLst xmlns:a="http://schemas.openxmlformats.org/drawingml/2006/main">
              <a:ext uri="{FF2B5EF4-FFF2-40B4-BE49-F238E27FC236}">
                <a16:creationId xmlns:a16="http://schemas.microsoft.com/office/drawing/2014/main" id="{55FD020D-2531-426D-9992-77E98C02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572125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All required checks pass.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Preserve the audit trace.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Pre-register a discriminating test.</a:t>
            </a:r>
          </a:p>
        </p:txBody>
      </p:sp>
      <p:sp>
        <p:nvSpPr>
          <p:cNvPr id="66" name="high-foot">
            <a:extLst xmlns:a="http://schemas.openxmlformats.org/drawingml/2006/main">
              <a:ext uri="{FF2B5EF4-FFF2-40B4-BE49-F238E27FC236}">
                <a16:creationId xmlns:a16="http://schemas.microsoft.com/office/drawing/2014/main" id="{0BFEE8AA-A263-4C5A-91D7-125754BA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00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Eligibility only—not biological truth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or clinical validity.</a:t>
            </a:r>
          </a:p>
        </p:txBody>
      </p:sp>
      <p:sp>
        <p:nvSpPr>
          <p:cNvPr id="67" name="a12">
            <a:extLst xmlns:a="http://schemas.openxmlformats.org/drawingml/2006/main">
              <a:ext uri="{FF2B5EF4-FFF2-40B4-BE49-F238E27FC236}">
                <a16:creationId xmlns:a16="http://schemas.microsoft.com/office/drawing/2014/main" id="{47DCB2D3-7022-44C3-9123-3FC00A0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4375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68" name="a23">
            <a:extLst xmlns:a="http://schemas.openxmlformats.org/drawingml/2006/main">
              <a:ext uri="{FF2B5EF4-FFF2-40B4-BE49-F238E27FC236}">
                <a16:creationId xmlns:a16="http://schemas.microsoft.com/office/drawing/2014/main" id="{676505C7-E0C0-4108-90EE-202F2E7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5DA9"/>
          </a:solidFill>
          <a:ln xmlns:a="http://schemas.openxmlformats.org/drawingml/2006/main" w="0">
            <a:solidFill>
              <a:srgbClr val="295DA9"/>
            </a:solidFill>
            <a:prstDash val="solid"/>
          </a:ln>
        </p:spPr>
      </p:sp>
      <p:sp>
        <p:nvSpPr>
          <p:cNvPr id="69" name="a34">
            <a:extLst xmlns:a="http://schemas.openxmlformats.org/drawingml/2006/main">
              <a:ext uri="{FF2B5EF4-FFF2-40B4-BE49-F238E27FC236}">
                <a16:creationId xmlns:a16="http://schemas.microsoft.com/office/drawing/2014/main" id="{80B0BBB9-00CA-4426-B5B6-F417EAF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524375"/>
            <a:ext cx="190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0">
            <a:solidFill>
              <a:srgbClr val="007D79"/>
            </a:solidFill>
            <a:prstDash val="solid"/>
          </a:ln>
        </p:spPr>
      </p:sp>
      <p:sp>
        <p:nvSpPr>
          <p:cNvPr id="70" name="conclusion">
            <a:extLst xmlns:a="http://schemas.openxmlformats.org/drawingml/2006/main">
              <a:ext uri="{FF2B5EF4-FFF2-40B4-BE49-F238E27FC236}">
                <a16:creationId xmlns:a16="http://schemas.microsoft.com/office/drawing/2014/main" id="{E4F2499E-79F4-4161-BFB9-3B2C885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934450"/>
            <a:ext cx="1657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9525">
            <a:solidFill>
              <a:srgbClr val="295DA9"/>
            </a:solidFill>
            <a:prstDash val="solid"/>
          </a:ln>
        </p:spPr>
      </p:sp>
      <p:sp>
        <p:nvSpPr>
          <p:cNvPr id="71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9E3C73EF-3030-4152-A965-F1D80CA7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010650"/>
            <a:ext cx="1571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Dataset relationships and typed evidence fields—not model prose—determine eligibility.</a:t>
            </a:r>
          </a:p>
        </p:txBody>
      </p:sp>
    </p:spTree>
    <p:extLst>
      <p:ext uri="{BB962C8B-B14F-4D97-AF65-F5344CB8AC3E}">
        <p14:creationId xmlns:p14="http://schemas.microsoft.com/office/powerpoint/2010/main" val="1864646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2026-09-16T06:49:59.8000000Z</dcterms:created>
  <dcterms:modified xsi:type="dcterms:W3CDTF">2026-09-16T06:49:59.8000000Z</dcterms:modified>
</coreProperties>
</file>