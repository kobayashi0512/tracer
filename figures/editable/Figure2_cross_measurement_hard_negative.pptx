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06c40e54184912" /><Relationship Type="http://schemas.openxmlformats.org/officeDocument/2006/relationships/extended-properties" Target="/docProps/app.xml" Id="R755a6b2d2c7c40fd" /><Relationship Type="http://schemas.openxmlformats.org/officeDocument/2006/relationships/officeDocument" Target="/ppt/presentation.xml" Id="R9fd3234e537943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15a2d63ee648ef"/>
  </p:sldMasterIdLst>
  <p:notesMasterIdLst>
    <p:notesMasterId xmlns:r="http://schemas.openxmlformats.org/officeDocument/2006/relationships" r:id="R4b43061c5f8e4dc5"/>
  </p:notesMasterIdLst>
  <p:sldIdLst>
    <p:sldId xmlns:r="http://schemas.openxmlformats.org/officeDocument/2006/relationships" id="256" r:id="R98480dc6e0664aa4"/>
  </p:sldIdLst>
  <p:sldSz cx="17145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0d07d4ef80453b" /><Relationship Type="http://schemas.openxmlformats.org/officeDocument/2006/relationships/slideMaster" Target="/ppt/slideMasters/slideMaster1.xml" Id="R7e15a2d63ee648ef" /><Relationship Type="http://schemas.openxmlformats.org/officeDocument/2006/relationships/notesMaster" Target="/ppt/notesMasters/notesMaster1.xml" Id="R4b43061c5f8e4dc5" /><Relationship Type="http://schemas.openxmlformats.org/officeDocument/2006/relationships/presProps" Target="/ppt/presProps.xml" Id="R47fbd87479144614" /><Relationship Type="http://schemas.openxmlformats.org/officeDocument/2006/relationships/tableStyles" Target="/ppt/tableStyles.xml" Id="R5d52e327fdbf412e" /><Relationship Type="http://schemas.openxmlformats.org/officeDocument/2006/relationships/slide" Target="/ppt/slides/slide1.xml" Id="R98480dc6e0664a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ace1c5e4854d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a04700de1b419b" /><Relationship Type="http://schemas.openxmlformats.org/officeDocument/2006/relationships/notesMaster" Target="/ppt/notesMasters/notesMaster1.xml" Id="R9b535f8232f54a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Dataset-rich cross-measurement hard-negative figure. The thumbnails are labeled schematic source-record views for GSE120575, GSE91061, and GSE78220. They display no gene-level, effect-size, or clinical result. Every native text element is set to 8 pt or larger.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767a2aeae4f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7c7bfee4184a20" /><Relationship Type="http://schemas.openxmlformats.org/officeDocument/2006/relationships/slideLayout" Target="/ppt/slideLayouts/slideLayout1.xml" Id="R2d3fe88ef21242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3fe88ef21242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9bbed2fd6422f" /><Relationship Type="http://schemas.openxmlformats.org/officeDocument/2006/relationships/image" Target="/ppt/media/image.png" Id="R1fbe4a39624a4ca8" /><Relationship Type="http://schemas.openxmlformats.org/officeDocument/2006/relationships/image" Target="/ppt/media/image2.png" Id="R1f8bde53885d4569" /><Relationship Type="http://schemas.openxmlformats.org/officeDocument/2006/relationships/image" Target="/ppt/media/image3.png" Id="Rff9c1d8500b74cc0" /><Relationship Type="http://schemas.openxmlformats.org/officeDocument/2006/relationships/image" Target="/ppt/media/image4.png" Id="Rb35463f9b49f4b2b" /><Relationship Type="http://schemas.openxmlformats.org/officeDocument/2006/relationships/notesSlide" Target="/ppt/notesSlides/notesSlide1.xml" Id="R5e82d177286644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itle">
            <a:extLst xmlns:a="http://schemas.openxmlformats.org/drawingml/2006/main">
              <a:ext uri="{FF2B5EF4-FFF2-40B4-BE49-F238E27FC236}">
                <a16:creationId xmlns:a16="http://schemas.microsoft.com/office/drawing/2014/main" id="{FFB4FAD3-67C4-4B25-B85C-2F1A8E66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628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Cross-measurement hard negative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7932A1-056D-4BBE-8A4A-07A82D2A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628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The registered single-cell record and two bulk-RNA records differ in measurement level; that conflict blocks the stated replication claim.</a:t>
            </a:r>
          </a:p>
        </p:txBody>
      </p:sp>
      <p:sp>
        <p:nvSpPr>
          <p:cNvPr id="3" name="panel-0">
            <a:extLst xmlns:a="http://schemas.openxmlformats.org/drawingml/2006/main">
              <a:ext uri="{FF2B5EF4-FFF2-40B4-BE49-F238E27FC236}">
                <a16:creationId xmlns:a16="http://schemas.microsoft.com/office/drawing/2014/main" id="{8835546D-F6B9-4675-B35E-E67243BB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81125"/>
            <a:ext cx="4857750" cy="73342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7FAFE"/>
          </a:solidFill>
          <a:ln xmlns:a="http://schemas.openxmlformats.org/drawingml/2006/main" w="11430">
            <a:solidFill>
              <a:srgbClr val="295DA9"/>
            </a:solidFill>
            <a:prstDash val="solid"/>
          </a:ln>
        </p:spPr>
      </p:sp>
      <p:sp>
        <p:nvSpPr>
          <p:cNvPr id="4" name="panel-1">
            <a:extLst xmlns:a="http://schemas.openxmlformats.org/drawingml/2006/main">
              <a:ext uri="{FF2B5EF4-FFF2-40B4-BE49-F238E27FC236}">
                <a16:creationId xmlns:a16="http://schemas.microsoft.com/office/drawing/2014/main" id="{520959FF-0BA3-4D6B-B42A-F39A2A9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81125"/>
            <a:ext cx="5524500" cy="7334250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7FAFE"/>
          </a:solidFill>
          <a:ln xmlns:a="http://schemas.openxmlformats.org/drawingml/2006/main" w="11430">
            <a:solidFill>
              <a:srgbClr val="295DA9"/>
            </a:solidFill>
            <a:prstDash val="solid"/>
          </a:ln>
        </p:spPr>
      </p:sp>
      <p:sp>
        <p:nvSpPr>
          <p:cNvPr id="5" name="panel-2">
            <a:extLst xmlns:a="http://schemas.openxmlformats.org/drawingml/2006/main">
              <a:ext uri="{FF2B5EF4-FFF2-40B4-BE49-F238E27FC236}">
                <a16:creationId xmlns:a16="http://schemas.microsoft.com/office/drawing/2014/main" id="{9C48576D-29E9-4DB6-9C9B-29B8A7CB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81125"/>
            <a:ext cx="5810250" cy="7334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7FAFE"/>
          </a:solidFill>
          <a:ln xmlns:a="http://schemas.openxmlformats.org/drawingml/2006/main" w="11430">
            <a:solidFill>
              <a:srgbClr val="295DA9"/>
            </a:solidFill>
            <a:prstDash val="solid"/>
          </a:ln>
        </p:spPr>
      </p:sp>
      <p:sp>
        <p:nvSpPr>
          <p:cNvPr id="6" name="a">
            <a:extLst xmlns:a="http://schemas.openxmlformats.org/drawingml/2006/main">
              <a:ext uri="{FF2B5EF4-FFF2-40B4-BE49-F238E27FC236}">
                <a16:creationId xmlns:a16="http://schemas.microsoft.com/office/drawing/2014/main" id="{95CBFD4E-688E-4D30-B42C-B8F246E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5DA9"/>
          </a:solidFill>
          <a:ln xmlns:a="http://schemas.openxmlformats.org/drawingml/2006/main" w="0">
            <a:solidFill>
              <a:srgbClr val="295DA9"/>
            </a:solidFill>
            <a:prstDash val="solid"/>
          </a:ln>
        </p:spPr>
      </p:sp>
      <p:sp>
        <p:nvSpPr>
          <p:cNvPr id="7" name="a-t">
            <a:extLst xmlns:a="http://schemas.openxmlformats.org/drawingml/2006/main">
              <a:ext uri="{FF2B5EF4-FFF2-40B4-BE49-F238E27FC236}">
                <a16:creationId xmlns:a16="http://schemas.microsoft.com/office/drawing/2014/main" id="{C96C69CC-FE0B-4CAA-A33A-44BC1E39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04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8" name="a-title">
            <a:extLst xmlns:a="http://schemas.openxmlformats.org/drawingml/2006/main">
              <a:ext uri="{FF2B5EF4-FFF2-40B4-BE49-F238E27FC236}">
                <a16:creationId xmlns:a16="http://schemas.microsoft.com/office/drawing/2014/main" id="{482E4502-4E26-45FB-A422-E407387E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716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Registered dataset views</a:t>
            </a:r>
          </a:p>
        </p:txBody>
      </p:sp>
      <p:sp>
        <p:nvSpPr>
          <p:cNvPr id="9" name="a-ids">
            <a:extLst xmlns:a="http://schemas.openxmlformats.org/drawingml/2006/main">
              <a:ext uri="{FF2B5EF4-FFF2-40B4-BE49-F238E27FC236}">
                <a16:creationId xmlns:a16="http://schemas.microsoft.com/office/drawing/2014/main" id="{2914E4E4-B4ED-45A7-B529-1B0CA8B4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rPr>
              <a:t>GSE120575 / GSE91061 / GSE78220</a:t>
            </a:r>
          </a:p>
        </p:txBody>
      </p:sp>
      <p:sp>
        <p:nvSpPr>
          <p:cNvPr id="10" name="source-sc">
            <a:extLst xmlns:a="http://schemas.openxmlformats.org/drawingml/2006/main">
              <a:ext uri="{FF2B5EF4-FFF2-40B4-BE49-F238E27FC236}">
                <a16:creationId xmlns:a16="http://schemas.microsoft.com/office/drawing/2014/main" id="{F62EFA61-15FC-42A0-9980-218CEC8D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05125"/>
            <a:ext cx="1333500" cy="2381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8E5"/>
            </a:solidFill>
            <a:prstDash val="solid"/>
          </a:ln>
        </p:spPr>
      </p:sp>
      <p:sp>
        <p:nvSpPr>
          <p:cNvPr id="11" name="source-label-sc">
            <a:extLst xmlns:a="http://schemas.openxmlformats.org/drawingml/2006/main">
              <a:ext uri="{FF2B5EF4-FFF2-40B4-BE49-F238E27FC236}">
                <a16:creationId xmlns:a16="http://schemas.microsoft.com/office/drawing/2014/main" id="{474C735A-92FE-4757-BB28-4443E5B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scRNA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e4a39624a4ca8"/>
          <a:stretch xmlns:a="http://schemas.openxmlformats.org/drawingml/2006/main"/>
        </p:blipFill>
        <p:spPr>
          <a:xfrm xmlns:a="http://schemas.openxmlformats.org/drawingml/2006/main">
            <a:off x="571500" y="3740160"/>
            <a:ext cx="1143000" cy="1044556"/>
          </a:xfrm>
          <a:prstGeom xmlns:a="http://schemas.openxmlformats.org/drawingml/2006/main" prst="rect">
            <a:avLst/>
          </a:prstGeom>
        </p:spPr>
      </p:pic>
      <p:sp>
        <p:nvSpPr>
          <p:cNvPr id="13" name="source-b1">
            <a:extLst xmlns:a="http://schemas.openxmlformats.org/drawingml/2006/main">
              <a:ext uri="{FF2B5EF4-FFF2-40B4-BE49-F238E27FC236}">
                <a16:creationId xmlns:a16="http://schemas.microsoft.com/office/drawing/2014/main" id="{51E1B792-C63C-4CBB-9B99-BA243BDD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05125"/>
            <a:ext cx="1333500" cy="2381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8E5"/>
            </a:solidFill>
            <a:prstDash val="solid"/>
          </a:ln>
        </p:spPr>
      </p:sp>
      <p:sp>
        <p:nvSpPr>
          <p:cNvPr id="14" name="source-label-b1">
            <a:extLst xmlns:a="http://schemas.openxmlformats.org/drawingml/2006/main">
              <a:ext uri="{FF2B5EF4-FFF2-40B4-BE49-F238E27FC236}">
                <a16:creationId xmlns:a16="http://schemas.microsoft.com/office/drawing/2014/main" id="{CCB92716-2540-4F8F-AF2C-4F65A6AD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480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bulk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bde53885d4569"/>
          <a:stretch xmlns:a="http://schemas.openxmlformats.org/drawingml/2006/main"/>
        </p:blipFill>
        <p:spPr>
          <a:xfrm xmlns:a="http://schemas.openxmlformats.org/drawingml/2006/main">
            <a:off x="2047875" y="3740160"/>
            <a:ext cx="1143000" cy="1044556"/>
          </a:xfrm>
          <a:prstGeom xmlns:a="http://schemas.openxmlformats.org/drawingml/2006/main" prst="rect">
            <a:avLst/>
          </a:prstGeom>
        </p:spPr>
      </p:pic>
      <p:sp>
        <p:nvSpPr>
          <p:cNvPr id="16" name="source-b2">
            <a:extLst xmlns:a="http://schemas.openxmlformats.org/drawingml/2006/main">
              <a:ext uri="{FF2B5EF4-FFF2-40B4-BE49-F238E27FC236}">
                <a16:creationId xmlns:a16="http://schemas.microsoft.com/office/drawing/2014/main" id="{1A0A2378-765B-4CF4-AC1C-DF665964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1333500" cy="2381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8E5"/>
            </a:solidFill>
            <a:prstDash val="solid"/>
          </a:ln>
        </p:spPr>
      </p:sp>
      <p:sp>
        <p:nvSpPr>
          <p:cNvPr id="17" name="source-label-b2">
            <a:extLst xmlns:a="http://schemas.openxmlformats.org/drawingml/2006/main">
              <a:ext uri="{FF2B5EF4-FFF2-40B4-BE49-F238E27FC236}">
                <a16:creationId xmlns:a16="http://schemas.microsoft.com/office/drawing/2014/main" id="{34C77847-76D9-44D8-A5C5-49BCAB90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bulk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c1d8500b74cc0"/>
          <a:stretch xmlns:a="http://schemas.openxmlformats.org/drawingml/2006/main"/>
        </p:blipFill>
        <p:spPr>
          <a:xfrm xmlns:a="http://schemas.openxmlformats.org/drawingml/2006/main">
            <a:off x="3524250" y="3740160"/>
            <a:ext cx="1143000" cy="1044556"/>
          </a:xfrm>
          <a:prstGeom xmlns:a="http://schemas.openxmlformats.org/drawingml/2006/main" prst="rect">
            <a:avLst/>
          </a:prstGeom>
        </p:spPr>
      </p:pic>
      <p:sp>
        <p:nvSpPr>
          <p:cNvPr id="19" name="mismatch">
            <a:extLst xmlns:a="http://schemas.openxmlformats.org/drawingml/2006/main">
              <a:ext uri="{FF2B5EF4-FFF2-40B4-BE49-F238E27FC236}">
                <a16:creationId xmlns:a16="http://schemas.microsoft.com/office/drawing/2014/main" id="{73FD59A5-805A-4BE4-A559-7309616F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4381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EF"/>
          </a:solidFill>
          <a:ln xmlns:a="http://schemas.openxmlformats.org/drawingml/2006/main" w="7620">
            <a:solidFill>
              <a:srgbClr val="D75A45"/>
            </a:solidFill>
            <a:prstDash val="solid"/>
          </a:ln>
        </p:spPr>
      </p:sp>
      <p:sp>
        <p:nvSpPr>
          <p:cNvPr id="20" name="mismatch-text">
            <a:extLst xmlns:a="http://schemas.openxmlformats.org/drawingml/2006/main">
              <a:ext uri="{FF2B5EF4-FFF2-40B4-BE49-F238E27FC236}">
                <a16:creationId xmlns:a16="http://schemas.microsoft.com/office/drawing/2014/main" id="{6210282B-B970-4EC5-BAAD-CE422BF4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rPr>
              <a:t>scRNA-seq ≠ bulk RNA</a:t>
            </a:r>
          </a:p>
          <a:p xmlns:a="http://schemas.openxmlformats.org/drawingml/2006/main">
            <a:pPr>
              <a:def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rPr>
              <a:t>Same-measurement replication fails.</a:t>
            </a:r>
          </a:p>
        </p:txBody>
      </p:sp>
      <p:sp>
        <p:nvSpPr>
          <p:cNvPr id="21" name="a-foot">
            <a:extLst xmlns:a="http://schemas.openxmlformats.org/drawingml/2006/main">
              <a:ext uri="{FF2B5EF4-FFF2-40B4-BE49-F238E27FC236}">
                <a16:creationId xmlns:a16="http://schemas.microsoft.com/office/drawing/2014/main" id="{F1685DDF-F936-489D-A45E-253D284F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866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Three registered data views make the transport conflict visible.</a:t>
            </a:r>
          </a:p>
        </p:txBody>
      </p:sp>
      <p:sp>
        <p:nvSpPr>
          <p:cNvPr id="22" name="b">
            <a:extLst xmlns:a="http://schemas.openxmlformats.org/drawingml/2006/main">
              <a:ext uri="{FF2B5EF4-FFF2-40B4-BE49-F238E27FC236}">
                <a16:creationId xmlns:a16="http://schemas.microsoft.com/office/drawing/2014/main" id="{2F68F558-3929-4E3A-B55A-F63B416A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19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27"/>
          </a:solidFill>
          <a:ln xmlns:a="http://schemas.openxmlformats.org/drawingml/2006/main" w="0">
            <a:solidFill>
              <a:srgbClr val="D48A27"/>
            </a:solidFill>
            <a:prstDash val="solid"/>
          </a:ln>
        </p:spPr>
      </p:sp>
      <p:sp>
        <p:nvSpPr>
          <p:cNvPr id="23" name="b-t">
            <a:extLst xmlns:a="http://schemas.openxmlformats.org/drawingml/2006/main">
              <a:ext uri="{FF2B5EF4-FFF2-40B4-BE49-F238E27FC236}">
                <a16:creationId xmlns:a16="http://schemas.microsoft.com/office/drawing/2014/main" id="{CE1567BA-6312-4DC8-9684-E033EB35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04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24" name="b-title">
            <a:extLst xmlns:a="http://schemas.openxmlformats.org/drawingml/2006/main">
              <a:ext uri="{FF2B5EF4-FFF2-40B4-BE49-F238E27FC236}">
                <a16:creationId xmlns:a16="http://schemas.microsoft.com/office/drawing/2014/main" id="{B0BA6C6A-F1BE-4617-9B17-77D52835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716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Candidate claim and audit</a:t>
            </a:r>
          </a:p>
        </p:txBody>
      </p:sp>
      <p:sp>
        <p:nvSpPr>
          <p:cNvPr id="25" name="b-kicker">
            <a:extLst xmlns:a="http://schemas.openxmlformats.org/drawingml/2006/main">
              <a:ext uri="{FF2B5EF4-FFF2-40B4-BE49-F238E27FC236}">
                <a16:creationId xmlns:a16="http://schemas.microsoft.com/office/drawing/2014/main" id="{BA292F45-3C66-42FD-A40A-FC3F4BC9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145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48A27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D48A27"/>
                </a:solidFill>
                <a:latin typeface="Helvetica Neue"/>
                <a:ea typeface="Helvetica Neue"/>
                <a:cs typeface="Helvetica Neue"/>
              </a:rPr>
              <a:t>Model prose cannot create evidence</a:t>
            </a:r>
          </a:p>
        </p:txBody>
      </p:sp>
      <p:sp>
        <p:nvSpPr>
          <p:cNvPr id="26" name="claim">
            <a:extLst xmlns:a="http://schemas.openxmlformats.org/drawingml/2006/main">
              <a:ext uri="{FF2B5EF4-FFF2-40B4-BE49-F238E27FC236}">
                <a16:creationId xmlns:a16="http://schemas.microsoft.com/office/drawing/2014/main" id="{7194DE5F-9AE1-4E40-BB48-42CEB0B1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D48A27"/>
            </a:solidFill>
            <a:prstDash val="solid"/>
          </a:ln>
        </p:spPr>
      </p:sp>
      <p:sp>
        <p:nvSpPr>
          <p:cNvPr id="2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7F43224-435E-4E0C-BA1B-19BAD651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623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48A27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D48A27"/>
                </a:solidFill>
                <a:latin typeface="Helvetica Neue"/>
                <a:ea typeface="Helvetica Neue"/>
                <a:cs typeface="Helvetica Neue"/>
              </a:rPr>
              <a:t>UNTRUSTED CLAIM</a:t>
            </a:r>
          </a:p>
        </p:txBody>
      </p:sp>
      <p:sp>
        <p:nvSpPr>
          <p:cNvPr id="28" name="claim-copy">
            <a:extLst xmlns:a="http://schemas.openxmlformats.org/drawingml/2006/main">
              <a:ext uri="{FF2B5EF4-FFF2-40B4-BE49-F238E27FC236}">
                <a16:creationId xmlns:a16="http://schemas.microsoft.com/office/drawing/2014/main" id="{82802954-93AE-44EF-90D2-79DF380B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rPr>
              <a:t>“same-measurement replication”</a:t>
            </a:r>
          </a:p>
        </p:txBody>
      </p:sp>
      <p:sp>
        <p:nvSpPr>
          <p:cNvPr id="29" name="audit">
            <a:extLst xmlns:a="http://schemas.openxmlformats.org/drawingml/2006/main">
              <a:ext uri="{FF2B5EF4-FFF2-40B4-BE49-F238E27FC236}">
                <a16:creationId xmlns:a16="http://schemas.microsoft.com/office/drawing/2014/main" id="{547EE0D1-7A55-430D-9693-FFB481BF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5143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2EF"/>
          </a:solidFill>
          <a:ln xmlns:a="http://schemas.openxmlformats.org/drawingml/2006/main" w="9525">
            <a:solidFill>
              <a:srgbClr val="D75A45"/>
            </a:solidFill>
            <a:prstDash val="solid"/>
          </a:ln>
        </p:spPr>
      </p:sp>
      <p:sp>
        <p:nvSpPr>
          <p:cNvPr id="30" name="audit-title">
            <a:extLst xmlns:a="http://schemas.openxmlformats.org/drawingml/2006/main">
              <a:ext uri="{FF2B5EF4-FFF2-40B4-BE49-F238E27FC236}">
                <a16:creationId xmlns:a16="http://schemas.microsoft.com/office/drawing/2014/main" id="{643E7D20-FC3F-4A73-8736-2ACA2664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292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rPr>
              <a:t>TRANSPORT GATE</a:t>
            </a:r>
          </a:p>
        </p:txBody>
      </p:sp>
      <p:sp>
        <p:nvSpPr>
          <p:cNvPr id="31" name="audit-copy">
            <a:extLst xmlns:a="http://schemas.openxmlformats.org/drawingml/2006/main">
              <a:ext uri="{FF2B5EF4-FFF2-40B4-BE49-F238E27FC236}">
                <a16:creationId xmlns:a16="http://schemas.microsoft.com/office/drawing/2014/main" id="{F5D202B2-0341-4C6E-85CB-5D8FC180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953125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rPr>
              <a:t>Registered measures differ:</a:t>
            </a:r>
          </a:p>
          <a:p xmlns:a="http://schemas.openxmlformats.org/drawingml/2006/main">
            <a:pPr>
              <a:def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rPr>
              <a:t>scRNA-seq  versus  bulk RNA</a:t>
            </a:r>
          </a:p>
        </p:txBody>
      </p:sp>
      <p:sp>
        <p:nvSpPr>
          <p:cNvPr id="32" name="b-foot">
            <a:extLst xmlns:a="http://schemas.openxmlformats.org/drawingml/2006/main">
              <a:ext uri="{FF2B5EF4-FFF2-40B4-BE49-F238E27FC236}">
                <a16:creationId xmlns:a16="http://schemas.microsoft.com/office/drawing/2014/main" id="{47CFCDC9-6182-4A60-968D-A8541784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3342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The audit retains the draft but blocks the claimed replication.</a:t>
            </a:r>
          </a:p>
        </p:txBody>
      </p:sp>
      <p:sp>
        <p:nvSpPr>
          <p:cNvPr id="33" name="c">
            <a:extLst xmlns:a="http://schemas.openxmlformats.org/drawingml/2006/main">
              <a:ext uri="{FF2B5EF4-FFF2-40B4-BE49-F238E27FC236}">
                <a16:creationId xmlns:a16="http://schemas.microsoft.com/office/drawing/2014/main" id="{03476E6C-C4C7-4307-A7FC-56B6306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619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solidFill>
              <a:srgbClr val="007D79"/>
            </a:solidFill>
            <a:prstDash val="solid"/>
          </a:ln>
        </p:spPr>
      </p:sp>
      <p:sp>
        <p:nvSpPr>
          <p:cNvPr id="34" name="c-t">
            <a:extLst xmlns:a="http://schemas.openxmlformats.org/drawingml/2006/main">
              <a:ext uri="{FF2B5EF4-FFF2-40B4-BE49-F238E27FC236}">
                <a16:creationId xmlns:a16="http://schemas.microsoft.com/office/drawing/2014/main" id="{E879F619-790A-42F9-82E0-C03FD244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704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35" name="c-title">
            <a:extLst xmlns:a="http://schemas.openxmlformats.org/drawingml/2006/main">
              <a:ext uri="{FF2B5EF4-FFF2-40B4-BE49-F238E27FC236}">
                <a16:creationId xmlns:a16="http://schemas.microsoft.com/office/drawing/2014/main" id="{F6A8929F-4819-4693-81A3-0FC5574E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571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LOW / ABSTAIN and next test</a:t>
            </a:r>
          </a:p>
        </p:txBody>
      </p:sp>
      <p:sp>
        <p:nvSpPr>
          <p:cNvPr id="36" name="c-kicker">
            <a:extLst xmlns:a="http://schemas.openxmlformats.org/drawingml/2006/main">
              <a:ext uri="{FF2B5EF4-FFF2-40B4-BE49-F238E27FC236}">
                <a16:creationId xmlns:a16="http://schemas.microsoft.com/office/drawing/2014/main" id="{9916C7F3-A94B-4A68-8B82-A1B16108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114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rPr>
              <a:t>Auditable research path</a:t>
            </a:r>
          </a:p>
        </p:txBody>
      </p:sp>
      <p:sp>
        <p:nvSpPr>
          <p:cNvPr id="37" name="low">
            <a:extLst xmlns:a="http://schemas.openxmlformats.org/drawingml/2006/main">
              <a:ext uri="{FF2B5EF4-FFF2-40B4-BE49-F238E27FC236}">
                <a16:creationId xmlns:a16="http://schemas.microsoft.com/office/drawing/2014/main" id="{BC687A75-2BAD-459E-A951-8BEFB679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0"/>
            <a:ext cx="542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07D79"/>
          </a:solidFill>
          <a:ln xmlns:a="http://schemas.openxmlformats.org/drawingml/2006/main" w="9525">
            <a:solidFill>
              <a:srgbClr val="007D79"/>
            </a:solidFill>
            <a:prstDash val="solid"/>
          </a:ln>
        </p:spPr>
      </p:sp>
      <p:sp>
        <p:nvSpPr>
          <p:cNvPr id="38" name="low-title">
            <a:extLst xmlns:a="http://schemas.openxmlformats.org/drawingml/2006/main">
              <a:ext uri="{FF2B5EF4-FFF2-40B4-BE49-F238E27FC236}">
                <a16:creationId xmlns:a16="http://schemas.microsoft.com/office/drawing/2014/main" id="{3FF49B3D-FEE7-44AF-BF4B-595EBC64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1908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LOW / ABSTAIN</a:t>
            </a:r>
          </a:p>
        </p:txBody>
      </p:sp>
      <p:sp>
        <p:nvSpPr>
          <p:cNvPr id="39" name="low-copy">
            <a:extLst xmlns:a="http://schemas.openxmlformats.org/drawingml/2006/main">
              <a:ext uri="{FF2B5EF4-FFF2-40B4-BE49-F238E27FC236}">
                <a16:creationId xmlns:a16="http://schemas.microsoft.com/office/drawing/2014/main" id="{CEC3FFF4-198A-4CA1-978F-B3885828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667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the trace; no HIGH priority for this claim.</a:t>
            </a:r>
          </a:p>
        </p:txBody>
      </p:sp>
      <p:sp>
        <p:nvSpPr>
          <p:cNvPr id="40" name="next">
            <a:extLst xmlns:a="http://schemas.openxmlformats.org/drawingml/2006/main">
              <a:ext uri="{FF2B5EF4-FFF2-40B4-BE49-F238E27FC236}">
                <a16:creationId xmlns:a16="http://schemas.microsoft.com/office/drawing/2014/main" id="{A18A71E6-6432-4674-BE32-49EBEDC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57750"/>
            <a:ext cx="5429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E5"/>
            </a:solidFill>
            <a:prstDash val="solid"/>
          </a:ln>
        </p:spPr>
      </p:sp>
      <p:sp>
        <p:nvSpPr>
          <p:cNvPr id="41" name="next-title">
            <a:extLst xmlns:a="http://schemas.openxmlformats.org/drawingml/2006/main">
              <a:ext uri="{FF2B5EF4-FFF2-40B4-BE49-F238E27FC236}">
                <a16:creationId xmlns:a16="http://schemas.microsoft.com/office/drawing/2014/main" id="{8684FADE-1526-4F1B-BDB1-A9A52B41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04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Compatible next experiment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463f9b49f4b2b"/>
          <a:stretch xmlns:a="http://schemas.openxmlformats.org/drawingml/2006/main"/>
        </p:blipFill>
        <p:spPr>
          <a:xfrm xmlns:a="http://schemas.openxmlformats.org/drawingml/2006/main">
            <a:off x="12144375" y="56673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43" name="next-copy">
            <a:extLst xmlns:a="http://schemas.openxmlformats.org/drawingml/2006/main">
              <a:ext uri="{FF2B5EF4-FFF2-40B4-BE49-F238E27FC236}">
                <a16:creationId xmlns:a16="http://schemas.microsoft.com/office/drawing/2014/main" id="{B5E5C351-1964-42CB-8CA2-A4DEC371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857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rPr>
              <a:t>Independent scRNA-seq cohort</a:t>
            </a:r>
          </a:p>
          <a:p xmlns:a="http://schemas.openxmlformats.org/drawingml/2006/main">
            <a:pPr>
              <a:def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rPr>
              <a:t>matched compartment and endpoint</a:t>
            </a:r>
          </a:p>
        </p:txBody>
      </p:sp>
      <p:sp>
        <p:nvSpPr>
          <p:cNvPr id="44" name="c-foot">
            <a:extLst xmlns:a="http://schemas.openxmlformats.org/drawingml/2006/main">
              <a:ext uri="{FF2B5EF4-FFF2-40B4-BE49-F238E27FC236}">
                <a16:creationId xmlns:a16="http://schemas.microsoft.com/office/drawing/2014/main" id="{D9F3D1BE-71C5-4A87-8379-4FB20E6C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7524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rPr>
              <a:t>This repairs the evidence gap; it does not validate the original claim.</a:t>
            </a:r>
          </a:p>
        </p:txBody>
      </p:sp>
      <p:sp>
        <p:nvSpPr>
          <p:cNvPr id="45" name="ab">
            <a:extLst xmlns:a="http://schemas.openxmlformats.org/drawingml/2006/main">
              <a:ext uri="{FF2B5EF4-FFF2-40B4-BE49-F238E27FC236}">
                <a16:creationId xmlns:a16="http://schemas.microsoft.com/office/drawing/2014/main" id="{7BE5BBD2-3A65-4DBF-94AB-9003128B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24375"/>
            <a:ext cx="190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5DA9"/>
          </a:solidFill>
          <a:ln xmlns:a="http://schemas.openxmlformats.org/drawingml/2006/main" w="0">
            <a:solidFill>
              <a:srgbClr val="295DA9"/>
            </a:solidFill>
            <a:prstDash val="solid"/>
          </a:ln>
        </p:spPr>
      </p:sp>
      <p:sp>
        <p:nvSpPr>
          <p:cNvPr id="46" name="bc">
            <a:extLst xmlns:a="http://schemas.openxmlformats.org/drawingml/2006/main">
              <a:ext uri="{FF2B5EF4-FFF2-40B4-BE49-F238E27FC236}">
                <a16:creationId xmlns:a16="http://schemas.microsoft.com/office/drawing/2014/main" id="{DC45727D-E904-4F90-93D3-C35400A2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524375"/>
            <a:ext cx="190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solidFill>
              <a:srgbClr val="007D79"/>
            </a:solidFill>
            <a:prstDash val="solid"/>
          </a:ln>
        </p:spPr>
      </p:sp>
      <p:sp>
        <p:nvSpPr>
          <p:cNvPr id="47" name="conclusion">
            <a:extLst xmlns:a="http://schemas.openxmlformats.org/drawingml/2006/main">
              <a:ext uri="{FF2B5EF4-FFF2-40B4-BE49-F238E27FC236}">
                <a16:creationId xmlns:a16="http://schemas.microsoft.com/office/drawing/2014/main" id="{20D4C57F-763A-479A-9335-FB6D6464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34450"/>
            <a:ext cx="1657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9525">
            <a:solidFill>
              <a:srgbClr val="295DA9"/>
            </a:solidFill>
            <a:prstDash val="solid"/>
          </a:ln>
        </p:spPr>
      </p:sp>
      <p:sp>
        <p:nvSpPr>
          <p:cNvPr id="48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1DA3C5C1-4788-4B6E-9438-19043668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010650"/>
            <a:ext cx="1571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TRACER redirects a cross-measurement conflict to a compatible independent experiment.</a:t>
            </a:r>
          </a:p>
        </p:txBody>
      </p:sp>
    </p:spTree>
    <p:extLst>
      <p:ext uri="{BB962C8B-B14F-4D97-AF65-F5344CB8AC3E}">
        <p14:creationId xmlns:p14="http://schemas.microsoft.com/office/powerpoint/2010/main" val="1434665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2026-09-16T06:48:09.3940000Z</dcterms:created>
  <dcterms:modified xsi:type="dcterms:W3CDTF">2026-09-16T06:48:09.3940000Z</dcterms:modified>
</coreProperties>
</file>